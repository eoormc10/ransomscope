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c04fe4f8_2_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5c04fe4f8_2_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Introduce the final project and its core message: ransomware is no longer just a file-locking technical nuisance.</a:t>
            </a:r>
            <a:br>
              <a:rPr lang="en"/>
            </a:br>
            <a:r>
              <a:rPr lang="en"/>
              <a:t>The talk explains how ransomware became organized extortion, what the four cases reveal, and what organizations can do before they are forced into a payment decision.</a:t>
            </a:r>
            <a:endParaRPr/>
          </a:p>
        </p:txBody>
      </p:sp>
      <p:sp>
        <p:nvSpPr>
          <p:cNvPr id="55" name="Google Shape;55;g3f5c04fe4f8_2_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5c04fe4f8_2_2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f5c04fe4f8_2_2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Frame the presentation around the three research questions.</a:t>
            </a:r>
            <a:br>
              <a:rPr lang="en"/>
            </a:br>
            <a:r>
              <a:rPr lang="en"/>
              <a:t>Emphasize that the report is explanatory rather than experimental: it synthesizes credible evidence and looks for recurring patterns across prominent cases.</a:t>
            </a:r>
            <a:endParaRPr/>
          </a:p>
        </p:txBody>
      </p:sp>
      <p:sp>
        <p:nvSpPr>
          <p:cNvPr id="74" name="Google Shape;74;g3f5c04fe4f8_2_2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5c04fe4f8_2_6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f5c04fe4f8_2_6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Define ransomware in plain terms: malware that blocks access and demands payment.</a:t>
            </a:r>
            <a:br>
              <a:rPr lang="en"/>
            </a:br>
            <a:r>
              <a:rPr lang="en"/>
              <a:t>Then expand the definition: the real harm includes downtime, data exposure, uncertainty, reputation damage, and public-service disruption.</a:t>
            </a:r>
            <a:endParaRPr/>
          </a:p>
        </p:txBody>
      </p:sp>
      <p:sp>
        <p:nvSpPr>
          <p:cNvPr id="113" name="Google Shape;113;g3f5c04fe4f8_2_6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c04fe4f8_2_8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5c04fe4f8_2_8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Explain that no single source type is enough for ransomware.</a:t>
            </a:r>
            <a:br>
              <a:rPr lang="en"/>
            </a:br>
            <a:r>
              <a:rPr lang="en"/>
              <a:t>Research papers help explain evolution and payment systems. Government guidance and filings help ground the incident facts and defensive recommendations.</a:t>
            </a:r>
            <a:endParaRPr/>
          </a:p>
        </p:txBody>
      </p:sp>
      <p:sp>
        <p:nvSpPr>
          <p:cNvPr id="140" name="Google Shape;140;g3f5c04fe4f8_2_8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c04fe4f8_2_11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f5c04fe4f8_2_11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Walk through the progression quickly.</a:t>
            </a:r>
            <a:br>
              <a:rPr lang="en"/>
            </a:br>
            <a:r>
              <a:rPr lang="en"/>
              <a:t>The key point is not just that malware got stronger; the criminal business model became more organized and more flexible.</a:t>
            </a:r>
            <a:endParaRPr/>
          </a:p>
        </p:txBody>
      </p:sp>
      <p:sp>
        <p:nvSpPr>
          <p:cNvPr id="166" name="Google Shape;166;g3f5c04fe4f8_2_11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5c04fe4f8_2_15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f5c04fe4f8_2_15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This was not a statistical experiment; it was a synthesis and case comparison.</a:t>
            </a:r>
            <a:br>
              <a:rPr lang="en"/>
            </a:br>
            <a:r>
              <a:rPr lang="en"/>
              <a:t>The report intentionally separates official facts from qualified outside reporting, especially where incident details remain sensitive or unconfirmed.</a:t>
            </a:r>
            <a:endParaRPr/>
          </a:p>
        </p:txBody>
      </p:sp>
      <p:sp>
        <p:nvSpPr>
          <p:cNvPr id="203" name="Google Shape;203;g3f5c04fe4f8_2_15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5c04fe4f8_2_17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f5c04fe4f8_2_17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Use this slide as the case overview.</a:t>
            </a:r>
            <a:br>
              <a:rPr lang="en"/>
            </a:br>
            <a:r>
              <a:rPr lang="en"/>
              <a:t>Each case was chosen because it illustrates a different form of ransomware risk: patching, critical infrastructure, social engineering, and third-party concentration.</a:t>
            </a:r>
            <a:endParaRPr/>
          </a:p>
        </p:txBody>
      </p:sp>
      <p:sp>
        <p:nvSpPr>
          <p:cNvPr id="229" name="Google Shape;229;g3f5c04fe4f8_2_17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5c04fe4f8_2_21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f5c04fe4f8_2_21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Summarize the report’s Results section.</a:t>
            </a:r>
            <a:br>
              <a:rPr lang="en"/>
            </a:br>
            <a:r>
              <a:rPr lang="en"/>
              <a:t>These findings support the central argument: ransomware harm comes from the interaction between technical access, business dependency, and recovery readiness.</a:t>
            </a:r>
            <a:endParaRPr/>
          </a:p>
        </p:txBody>
      </p:sp>
      <p:sp>
        <p:nvSpPr>
          <p:cNvPr id="269" name="Google Shape;269;g3f5c04fe4f8_2_21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5c04fe4f8_2_25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f5c04fe4f8_2_25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Interpret the cross-case results as a business-risk pattern.</a:t>
            </a:r>
            <a:br>
              <a:rPr lang="en"/>
            </a:br>
            <a:r>
              <a:rPr lang="en"/>
              <a:t>The visible encryption event may be the final stage; by then, the attacker may have already gathered information and created uncertainty.</a:t>
            </a:r>
            <a:endParaRPr/>
          </a:p>
        </p:txBody>
      </p:sp>
      <p:sp>
        <p:nvSpPr>
          <p:cNvPr id="304" name="Google Shape;304;g3f5c04fe4f8_2_25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5c04fe4f8_2_28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f5c04fe4f8_2_28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Make this practical: no single product is enough.</a:t>
            </a:r>
            <a:br>
              <a:rPr lang="en"/>
            </a:br>
            <a:r>
              <a:rPr lang="en"/>
              <a:t>The best strategy combines security and recovery planning so leadership has more choices during an outage.</a:t>
            </a:r>
            <a:endParaRPr/>
          </a:p>
        </p:txBody>
      </p:sp>
      <p:sp>
        <p:nvSpPr>
          <p:cNvPr id="336" name="Google Shape;336;g3f5c04fe4f8_2_28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5c04fe4f8_2_314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f5c04fe4f8_2_314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Be transparent about the method.</a:t>
            </a:r>
            <a:br>
              <a:rPr lang="en"/>
            </a:br>
            <a:r>
              <a:rPr lang="en"/>
              <a:t>The report avoids overclaiming: it identifies recurring themes but does not calculate incident prevalence or prove statistical causation.</a:t>
            </a:r>
            <a:endParaRPr/>
          </a:p>
        </p:txBody>
      </p:sp>
      <p:sp>
        <p:nvSpPr>
          <p:cNvPr id="367" name="Google Shape;367;g3f5c04fe4f8_2_314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5c04fe4f8_2_33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f5c04fe4f8_2_33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Close by connecting the title to the conclusion.</a:t>
            </a:r>
            <a:br>
              <a:rPr lang="en"/>
            </a:br>
            <a:r>
              <a:rPr lang="en"/>
              <a:t>Paying may seem like it helps one victim in the moment, but it feeds a criminal market. The more sustainable answer is resilience before the attack.</a:t>
            </a:r>
            <a:endParaRPr/>
          </a:p>
        </p:txBody>
      </p:sp>
      <p:sp>
        <p:nvSpPr>
          <p:cNvPr id="390" name="Google Shape;390;g3f5c04fe4f8_2_33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5c04fe4f8_2_36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f5c04fe4f8_2_36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Leave this slide visible at the end or move it after questions, depending on class expectations.</a:t>
            </a:r>
            <a:br>
              <a:rPr lang="en"/>
            </a:br>
            <a:r>
              <a:rPr lang="en"/>
              <a:t>Use the full report for complete references and access dates.</a:t>
            </a:r>
            <a:endParaRPr/>
          </a:p>
        </p:txBody>
      </p:sp>
      <p:sp>
        <p:nvSpPr>
          <p:cNvPr id="419" name="Google Shape;419;g3f5c04fe4f8_2_36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029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7297107" y="288036"/>
            <a:ext cx="493789" cy="8229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832045" y="294894"/>
            <a:ext cx="82298" cy="28803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7420554" y="411480"/>
            <a:ext cx="329193" cy="8229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11491" y="1220724"/>
            <a:ext cx="6721019" cy="92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2600"/>
              <a:buFont typeface="Montserrat"/>
              <a:buNone/>
            </a:pPr>
            <a:r>
              <a:rPr b="0" i="0" lang="en" sz="26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To Pay a Ransom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2600"/>
              <a:buFont typeface="Montserrat"/>
              <a:buNone/>
            </a:pPr>
            <a:r>
              <a:rPr b="0" i="0" lang="en" sz="26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Is to Feed the Wolf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25207" y="2297430"/>
            <a:ext cx="637811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Evolution of Ransomware and What Organizations Can Do About It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7" name="Google Shape;67;p15"/>
          <p:cNvCxnSpPr/>
          <p:nvPr/>
        </p:nvCxnSpPr>
        <p:spPr>
          <a:xfrm>
            <a:off x="0" y="4711409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6F8A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5"/>
          <p:cNvSpPr/>
          <p:nvPr/>
        </p:nvSpPr>
        <p:spPr>
          <a:xfrm>
            <a:off x="0" y="4745699"/>
            <a:ext cx="9144000" cy="397800"/>
          </a:xfrm>
          <a:prstGeom prst="rect">
            <a:avLst/>
          </a:prstGeom>
          <a:solidFill>
            <a:srgbClr val="2B2822"/>
          </a:solidFill>
          <a:ln cap="flat" cmpd="sng" w="12700">
            <a:solidFill>
              <a:srgbClr val="2B282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25207" y="4876001"/>
            <a:ext cx="38064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Lato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ISABELLA RIOS  |  BRAITON MENDOZA  |  IVAN REYES</a:t>
            </a:r>
            <a:endParaRPr b="0" i="0" sz="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5843172" y="4876001"/>
            <a:ext cx="2846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Lato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TEXAS A&amp;M UNIVERSITY  ·  JULY 25, 2026</a:t>
            </a:r>
            <a:endParaRPr b="0" i="0" sz="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9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0"/>
            <a:ext cx="9144015" cy="720090"/>
          </a:xfrm>
          <a:prstGeom prst="rect">
            <a:avLst/>
          </a:prstGeom>
          <a:solidFill>
            <a:srgbClr val="FFF6E9"/>
          </a:solidFill>
          <a:ln cap="flat" cmpd="sng" w="12700">
            <a:solidFill>
              <a:srgbClr val="FFF6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60611" y="370332"/>
            <a:ext cx="726967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900"/>
              <a:buFont typeface="Montserrat"/>
              <a:buNone/>
            </a:pPr>
            <a:r>
              <a:rPr b="0" i="0" lang="en" sz="19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</a:t>
            </a:r>
            <a:endParaRPr b="0"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549565" y="233172"/>
            <a:ext cx="22289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76C"/>
              </a:buClr>
              <a:buSzPts val="500"/>
              <a:buFont typeface="Lato"/>
              <a:buNone/>
            </a:pPr>
            <a:r>
              <a:rPr b="1" i="0" lang="en" sz="500" u="none" cap="none" strike="noStrike">
                <a:solidFill>
                  <a:srgbClr val="7D776C"/>
                </a:solidFill>
                <a:latin typeface="Lato"/>
                <a:ea typeface="Lato"/>
                <a:cs typeface="Lato"/>
                <a:sym typeface="Lato"/>
              </a:rPr>
              <a:t>8-minute overview</a:t>
            </a:r>
            <a:endParaRPr b="0" i="0" sz="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25207" y="1062990"/>
            <a:ext cx="17831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This review asks: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25207" y="1405890"/>
            <a:ext cx="534938" cy="35661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28080" y="1508760"/>
            <a:ext cx="329193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083593" y="1419606"/>
            <a:ext cx="34976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000"/>
              <a:buFont typeface="Lato"/>
              <a:buNone/>
            </a:pPr>
            <a:r>
              <a:rPr b="0" i="0" lang="en" sz="10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How has ransomware evolved from isolated file encryption into organized, multi-stage extortion?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25207" y="2125980"/>
            <a:ext cx="534938" cy="35661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528080" y="2228850"/>
            <a:ext cx="329193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083593" y="2139696"/>
            <a:ext cx="34976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000"/>
              <a:buFont typeface="Lato"/>
              <a:buNone/>
            </a:pPr>
            <a:r>
              <a:rPr b="0" i="0" lang="en" sz="10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What recurring weaknesses and consequences appear across WannaCry, Colonial Pipeline, MGM Resorts, and Change Healthcare?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25207" y="2846070"/>
            <a:ext cx="534938" cy="35661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28080" y="2948940"/>
            <a:ext cx="329193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1083593" y="2859786"/>
            <a:ext cx="34976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000"/>
              <a:buFont typeface="Lato"/>
              <a:buNone/>
            </a:pPr>
            <a:r>
              <a:rPr b="0" i="0" lang="en" sz="10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Which defensive practices are most consistently supported by authoritative guidance and case evidence?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047623" y="939546"/>
            <a:ext cx="3449666" cy="3305556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294517" y="1200150"/>
            <a:ext cx="1920291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Font typeface="Montserrat"/>
              <a:buNone/>
            </a:pPr>
            <a:r>
              <a:rPr b="0" i="0" lang="en" sz="14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Presentation flow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5315092" y="1632204"/>
            <a:ext cx="123447" cy="123444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5541412" y="1618488"/>
            <a:ext cx="22974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Threat background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315092" y="2023110"/>
            <a:ext cx="123447" cy="123444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541412" y="2009394"/>
            <a:ext cx="22974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Evidence base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5315092" y="2414016"/>
            <a:ext cx="123447" cy="123444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5541412" y="2400300"/>
            <a:ext cx="22974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Four case findings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5315092" y="2804922"/>
            <a:ext cx="123447" cy="123444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541412" y="2791206"/>
            <a:ext cx="22974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Interpretation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315092" y="3195828"/>
            <a:ext cx="123447" cy="123444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541412" y="3182112"/>
            <a:ext cx="22974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Defenses + next research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7502852" y="3758184"/>
            <a:ext cx="493789" cy="8229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8037790" y="3765042"/>
            <a:ext cx="82298" cy="28803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7626299" y="3881628"/>
            <a:ext cx="329193" cy="8229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7351972" y="4910328"/>
            <a:ext cx="1481367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76C"/>
              </a:buClr>
              <a:buSzPts val="400"/>
              <a:buFont typeface="Lato"/>
              <a:buNone/>
            </a:pPr>
            <a:r>
              <a:rPr b="0" i="0" lang="en" sz="400" u="none" cap="none" strike="noStrike">
                <a:solidFill>
                  <a:srgbClr val="7D776C"/>
                </a:solidFill>
                <a:latin typeface="Lato"/>
                <a:ea typeface="Lato"/>
                <a:cs typeface="Lato"/>
                <a:sym typeface="Lato"/>
              </a:rPr>
              <a:t>Rios, Mendoza &amp; Reyes | CSCE 701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0" y="0"/>
            <a:ext cx="9144015" cy="72009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260611" y="370332"/>
            <a:ext cx="726967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900"/>
              <a:buFont typeface="Montserrat"/>
              <a:buNone/>
            </a:pPr>
            <a:r>
              <a:rPr b="0" i="0" lang="en" sz="19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Background &amp; significance</a:t>
            </a:r>
            <a:endParaRPr b="0"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25207" y="1062990"/>
            <a:ext cx="2228909" cy="3223260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630953" y="1769364"/>
            <a:ext cx="1680255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2100"/>
              <a:buFont typeface="Montserrat"/>
              <a:buNone/>
            </a:pPr>
            <a:r>
              <a:rPr b="0" i="0" lang="en" sz="21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Why it</a:t>
            </a:r>
            <a:endParaRPr b="0" i="0" sz="2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2100"/>
              <a:buFont typeface="Montserrat"/>
              <a:buNone/>
            </a:pPr>
            <a:r>
              <a:rPr b="0" i="0" lang="en" sz="21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matters</a:t>
            </a:r>
            <a:endParaRPr b="0" i="0" sz="2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2983310" y="1186434"/>
            <a:ext cx="1618531" cy="82296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2983310" y="1405890"/>
            <a:ext cx="16116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Operational downtime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2983310" y="1748790"/>
            <a:ext cx="154309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Customers, payments, records, and internal communication can stop immediately.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924175" y="1186434"/>
            <a:ext cx="1618531" cy="82296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924175" y="1405890"/>
            <a:ext cx="16116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Legal + financial pressure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924175" y="1748790"/>
            <a:ext cx="154309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Recovery costs can include forensics, notification, lawsuits, penalties, insurance, and new controls.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865041" y="1186434"/>
            <a:ext cx="1618531" cy="82296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6865041" y="1405890"/>
            <a:ext cx="16116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Trust + public safety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6865041" y="1748790"/>
            <a:ext cx="154309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Healthcare, energy, and shared service providers can magnify harm beyond one organization.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983310" y="3154680"/>
            <a:ext cx="5390532" cy="877824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209634" y="3207363"/>
            <a:ext cx="3291838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Font typeface="Montserrat"/>
              <a:buNone/>
            </a:pPr>
            <a:r>
              <a:rPr b="0" i="0" lang="en" sz="14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Ransomware is organizational risk, not just malware.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3209630" y="3641598"/>
            <a:ext cx="4649848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ato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It can affect revenue, legal obligations, customer trust, employee productivity, and public-facing services.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7351972" y="4910328"/>
            <a:ext cx="1481367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76C"/>
              </a:buClr>
              <a:buSzPts val="400"/>
              <a:buFont typeface="Lato"/>
              <a:buNone/>
            </a:pPr>
            <a:r>
              <a:rPr b="0" i="0" lang="en" sz="400" u="none" cap="none" strike="noStrike">
                <a:solidFill>
                  <a:srgbClr val="7D776C"/>
                </a:solidFill>
                <a:latin typeface="Lato"/>
                <a:ea typeface="Lato"/>
                <a:cs typeface="Lato"/>
                <a:sym typeface="Lato"/>
              </a:rPr>
              <a:t>Rios, Mendoza &amp; Reyes | CSCE 701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9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0" y="0"/>
            <a:ext cx="9144015" cy="720090"/>
          </a:xfrm>
          <a:prstGeom prst="rect">
            <a:avLst/>
          </a:prstGeom>
          <a:solidFill>
            <a:srgbClr val="FFF6E9"/>
          </a:solidFill>
          <a:ln cap="flat" cmpd="sng" w="12700">
            <a:solidFill>
              <a:srgbClr val="FFF6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18361" y="548582"/>
            <a:ext cx="7269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900"/>
              <a:buFont typeface="Montserrat"/>
              <a:buNone/>
            </a:pPr>
            <a:r>
              <a:rPr b="0" i="0" lang="en" sz="19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Related work</a:t>
            </a:r>
            <a:endParaRPr b="0"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25207" y="953262"/>
            <a:ext cx="4663564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100"/>
              <a:buFont typeface="Lato"/>
              <a:buNone/>
            </a:pPr>
            <a:r>
              <a:rPr b="0" i="0" lang="en" sz="11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The report integrates three strands of evidence rather than treating ransomware as a single technical topic.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62371" y="1495044"/>
            <a:ext cx="2290633" cy="1817370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754400" y="1755648"/>
            <a:ext cx="188600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Historical + taxonomic studies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754400" y="2297430"/>
            <a:ext cx="1865426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Evolution from AIDS Trojan to cryptographic families and platform-based ransomware.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3339935" y="1495044"/>
            <a:ext cx="2290633" cy="181737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3531964" y="1755648"/>
            <a:ext cx="188600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Payment + ecosystem analysis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3531964" y="2297430"/>
            <a:ext cx="1865426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Cryptocurrency flows, affiliate models, money laundering, and law-enforcement tracing.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6117499" y="1495044"/>
            <a:ext cx="2290633" cy="1817370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309528" y="1755648"/>
            <a:ext cx="1886000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Operational guidance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6309528" y="2297430"/>
            <a:ext cx="1865426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CISA, NIST, FBI, Treasury, DOJ, SEC filings, and company reports for incident facts and defenses.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9" name="Google Shape;159;p18"/>
          <p:cNvCxnSpPr/>
          <p:nvPr/>
        </p:nvCxnSpPr>
        <p:spPr>
          <a:xfrm>
            <a:off x="1673397" y="3806190"/>
            <a:ext cx="5795164" cy="0"/>
          </a:xfrm>
          <a:prstGeom prst="straightConnector1">
            <a:avLst/>
          </a:prstGeom>
          <a:noFill/>
          <a:ln cap="flat" cmpd="sng" w="19050">
            <a:solidFill>
              <a:srgbClr val="34302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18"/>
          <p:cNvSpPr/>
          <p:nvPr/>
        </p:nvSpPr>
        <p:spPr>
          <a:xfrm>
            <a:off x="3120473" y="3669030"/>
            <a:ext cx="3072466" cy="219456"/>
          </a:xfrm>
          <a:prstGeom prst="roundRect">
            <a:avLst>
              <a:gd fmla="val 12500" name="adj"/>
            </a:avLst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175339" y="3720465"/>
            <a:ext cx="2962735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applied to four cross-sector cases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7351972" y="4910328"/>
            <a:ext cx="1481367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76C"/>
              </a:buClr>
              <a:buSzPts val="400"/>
              <a:buFont typeface="Lato"/>
              <a:buNone/>
            </a:pPr>
            <a:r>
              <a:rPr b="0" i="0" lang="en" sz="400" u="none" cap="none" strike="noStrike">
                <a:solidFill>
                  <a:srgbClr val="7D776C"/>
                </a:solidFill>
                <a:latin typeface="Lato"/>
                <a:ea typeface="Lato"/>
                <a:cs typeface="Lato"/>
                <a:sym typeface="Lato"/>
              </a:rPr>
              <a:t>Rios, Mendoza &amp; Reyes | CSCE 701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029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25207" y="534924"/>
            <a:ext cx="60352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2000"/>
              <a:buFont typeface="Montserrat"/>
              <a:buNone/>
            </a:pPr>
            <a:r>
              <a:rPr b="0" i="0" lang="en" sz="20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The evolution of ransomware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45782" y="891540"/>
            <a:ext cx="473214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ato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From isolated file denial to multi-stage extortion and service disruption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5" name="Google Shape;175;p19"/>
          <p:cNvCxnSpPr/>
          <p:nvPr/>
        </p:nvCxnSpPr>
        <p:spPr>
          <a:xfrm>
            <a:off x="685818" y="2366010"/>
            <a:ext cx="7681165" cy="0"/>
          </a:xfrm>
          <a:prstGeom prst="straightConnector1">
            <a:avLst/>
          </a:prstGeom>
          <a:noFill/>
          <a:ln cap="flat" cmpd="sng" w="30475">
            <a:solidFill>
              <a:srgbClr val="D6F8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19"/>
          <p:cNvSpPr/>
          <p:nvPr/>
        </p:nvSpPr>
        <p:spPr>
          <a:xfrm>
            <a:off x="651527" y="2242566"/>
            <a:ext cx="246895" cy="246888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80073" y="1405890"/>
            <a:ext cx="617236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800"/>
              <a:buFont typeface="Lato"/>
              <a:buNone/>
            </a:pPr>
            <a:r>
              <a:rPr b="1" i="0" lang="en" sz="8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1989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40036" y="1591056"/>
            <a:ext cx="106301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AIDS Trojan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192029" y="1796796"/>
            <a:ext cx="1200182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physical distribution + weak encryption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2297491" y="2242566"/>
            <a:ext cx="246895" cy="246888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2126037" y="2777490"/>
            <a:ext cx="617236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800"/>
              <a:buFont typeface="Lato"/>
              <a:buNone/>
            </a:pPr>
            <a:r>
              <a:rPr b="1" i="0" lang="en" sz="8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2013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1886000" y="2969514"/>
            <a:ext cx="106301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CryptoLocker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1837993" y="3209544"/>
            <a:ext cx="1200182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strong encryption + Bitcoin deadlines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3943455" y="2242566"/>
            <a:ext cx="246895" cy="246888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772001" y="1405890"/>
            <a:ext cx="617236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800"/>
              <a:buFont typeface="Lato"/>
              <a:buNone/>
            </a:pPr>
            <a:r>
              <a:rPr b="1" i="0" lang="en" sz="8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2017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3531964" y="1591056"/>
            <a:ext cx="106301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WannaCry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483957" y="1796796"/>
            <a:ext cx="1200182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worm-like spread through unpatched Windows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589419" y="2242566"/>
            <a:ext cx="246895" cy="246888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417964" y="2777490"/>
            <a:ext cx="617236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800"/>
              <a:buFont typeface="Lato"/>
              <a:buNone/>
            </a:pPr>
            <a:r>
              <a:rPr b="1" i="0" lang="en" sz="8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2020s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177928" y="2969514"/>
            <a:ext cx="106301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RaaS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129921" y="3209544"/>
            <a:ext cx="1200182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affiliates, data theft, double extortion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235383" y="2242566"/>
            <a:ext cx="246895" cy="246888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7063928" y="1252346"/>
            <a:ext cx="617191" cy="1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800"/>
              <a:buFont typeface="Lato"/>
              <a:buNone/>
            </a:pPr>
            <a:r>
              <a:rPr b="1" i="0" lang="en" sz="8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Emerging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823892" y="1437512"/>
            <a:ext cx="1062928" cy="191925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AI-assisted deception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775885" y="1796796"/>
            <a:ext cx="1200182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more convincing phishing + impersonation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7667448" y="4087368"/>
            <a:ext cx="493789" cy="8229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8202387" y="4094226"/>
            <a:ext cx="82298" cy="28803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7790896" y="4210812"/>
            <a:ext cx="329193" cy="8229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351972" y="4910328"/>
            <a:ext cx="1481367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0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Rios, Mendoza &amp; Reyes | CSCE 701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9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/>
          <p:nvPr/>
        </p:nvSpPr>
        <p:spPr>
          <a:xfrm>
            <a:off x="0" y="0"/>
            <a:ext cx="2482662" cy="514350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84058" y="1371600"/>
            <a:ext cx="171454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900"/>
              <a:buFont typeface="Montserrat"/>
              <a:buNone/>
            </a:pPr>
            <a:r>
              <a:rPr b="0" i="0" lang="en" sz="19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b="0"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97775" y="1906524"/>
            <a:ext cx="157738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Qualitative review + comparative case analysis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846146" y="994410"/>
            <a:ext cx="356626" cy="35661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2962735" y="1097280"/>
            <a:ext cx="123447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360510" y="994410"/>
            <a:ext cx="2400364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300"/>
              <a:buFont typeface="Montserrat"/>
              <a:buNone/>
            </a:pPr>
            <a:r>
              <a:rPr b="1" i="0" lang="en" sz="13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Source selection</a:t>
            </a:r>
            <a:endParaRPr b="0"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367368" y="1261872"/>
            <a:ext cx="4286364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Prioritized government guidance, law-enforcement releases, regulatory filings, and company reports; peer-reviewed research supported history and taxonomy.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846146" y="2057400"/>
            <a:ext cx="356626" cy="35661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2962735" y="2160270"/>
            <a:ext cx="123447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360510" y="2057400"/>
            <a:ext cx="2400364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300"/>
              <a:buFont typeface="Montserrat"/>
              <a:buNone/>
            </a:pPr>
            <a:r>
              <a:rPr b="1" i="0" lang="en" sz="13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Case selection</a:t>
            </a:r>
            <a:endParaRPr b="0"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3367368" y="2324862"/>
            <a:ext cx="4286364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Purposive selection of four prominent, information-rich incidents across different sectors and mechanisms.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846146" y="3120390"/>
            <a:ext cx="356626" cy="35661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962735" y="3223260"/>
            <a:ext cx="123447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3360510" y="3120390"/>
            <a:ext cx="2400364" cy="18516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300"/>
              <a:buFont typeface="Montserrat"/>
              <a:buNone/>
            </a:pPr>
            <a:r>
              <a:rPr b="1" i="0" lang="en" sz="13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Case themes</a:t>
            </a:r>
            <a:endParaRPr b="0"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3367368" y="3387852"/>
            <a:ext cx="4286364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Access/propagation, operational disruption, financial or privacy impact, response/recovery, and primary defensive lesson.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7351972" y="4910328"/>
            <a:ext cx="1481367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76C"/>
              </a:buClr>
              <a:buSzPts val="400"/>
              <a:buFont typeface="Lato"/>
              <a:buNone/>
            </a:pPr>
            <a:r>
              <a:rPr b="0" i="0" lang="en" sz="400" u="none" cap="none" strike="noStrike">
                <a:solidFill>
                  <a:srgbClr val="7D776C"/>
                </a:solidFill>
                <a:latin typeface="Lato"/>
                <a:ea typeface="Lato"/>
                <a:cs typeface="Lato"/>
                <a:sym typeface="Lato"/>
              </a:rPr>
              <a:t>Rios, Mendoza &amp; Reyes | CSCE 701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9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/>
          <p:nvPr/>
        </p:nvSpPr>
        <p:spPr>
          <a:xfrm>
            <a:off x="0" y="0"/>
            <a:ext cx="9144015" cy="72009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60611" y="370332"/>
            <a:ext cx="726967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900"/>
              <a:buFont typeface="Montserrat"/>
              <a:buNone/>
            </a:pPr>
            <a:r>
              <a:rPr b="0" i="0" lang="en" sz="19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Four cases, four forms of risk</a:t>
            </a:r>
            <a:endParaRPr b="0"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425207" y="877824"/>
            <a:ext cx="63095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000"/>
              <a:buFont typeface="Lato"/>
              <a:buNone/>
            </a:pPr>
            <a:r>
              <a:rPr b="0" i="0" lang="en" sz="10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Each case was selected to illustrate a different way ransomware creates organizational pressure.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493789" y="1289304"/>
            <a:ext cx="3669128" cy="1165860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665244" y="1440180"/>
            <a:ext cx="168025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WannaCry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585535" y="1426464"/>
            <a:ext cx="1337346" cy="219456"/>
          </a:xfrm>
          <a:prstGeom prst="roundRect">
            <a:avLst>
              <a:gd fmla="val 12500" name="adj"/>
            </a:avLst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2640400" y="1477899"/>
            <a:ext cx="1227615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500"/>
              <a:buFont typeface="Lato"/>
              <a:buNone/>
            </a:pPr>
            <a:r>
              <a:rPr b="1" i="0" lang="en" sz="5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Cross-border scale</a:t>
            </a:r>
            <a:endParaRPr b="0" i="0" sz="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665244" y="1755648"/>
            <a:ext cx="3168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Patching + asset visibility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665244" y="1988820"/>
            <a:ext cx="3278211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Worm-like movement through unpatched Windows systems caused global disruption across hospitals, transport, manufacturing, and government.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642990" y="1289304"/>
            <a:ext cx="3669128" cy="116586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4814444" y="1440180"/>
            <a:ext cx="168025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Colonial Pipeline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6734736" y="1426464"/>
            <a:ext cx="1337346" cy="219456"/>
          </a:xfrm>
          <a:prstGeom prst="roundRect">
            <a:avLst>
              <a:gd fmla="val 12500" name="adj"/>
            </a:avLst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789601" y="1477899"/>
            <a:ext cx="1227615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500"/>
              <a:buFont typeface="Lato"/>
              <a:buNone/>
            </a:pPr>
            <a:r>
              <a:rPr b="1" i="0" lang="en" sz="5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Critical infrastructure</a:t>
            </a:r>
            <a:endParaRPr b="0" i="0" sz="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4814444" y="1755648"/>
            <a:ext cx="3168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Containment can halt physical services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814444" y="1988820"/>
            <a:ext cx="3278211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business-system incident led Colonial to suspend pipeline operations while protecting connected systems and confirming scope.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493789" y="2729484"/>
            <a:ext cx="3669128" cy="116586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665244" y="2880360"/>
            <a:ext cx="168025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MGM Resorts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2585535" y="2866644"/>
            <a:ext cx="1337346" cy="219456"/>
          </a:xfrm>
          <a:prstGeom prst="roundRect">
            <a:avLst>
              <a:gd fmla="val 12500" name="adj"/>
            </a:avLst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2640400" y="2918079"/>
            <a:ext cx="1227615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500"/>
              <a:buFont typeface="Lato"/>
              <a:buNone/>
            </a:pPr>
            <a:r>
              <a:rPr b="1" i="0" lang="en" sz="5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Hospitality + trust</a:t>
            </a:r>
            <a:endParaRPr b="0" i="0" sz="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665244" y="3195828"/>
            <a:ext cx="3168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Identity verification matters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65244" y="3429000"/>
            <a:ext cx="3278211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Reported social engineering of the IT service desk disrupted guest-facing systems and made recovery highly visible to customers.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4642990" y="2729484"/>
            <a:ext cx="3669128" cy="1165860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814444" y="2880360"/>
            <a:ext cx="168025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Change Healthcare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734736" y="2866644"/>
            <a:ext cx="1337346" cy="219456"/>
          </a:xfrm>
          <a:prstGeom prst="roundRect">
            <a:avLst>
              <a:gd fmla="val 12500" name="adj"/>
            </a:avLst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6789601" y="2918079"/>
            <a:ext cx="1227615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500"/>
              <a:buFont typeface="Lato"/>
              <a:buNone/>
            </a:pPr>
            <a:r>
              <a:rPr b="1" i="0" lang="en" sz="5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Healthcare dependency</a:t>
            </a:r>
            <a:endParaRPr b="0" i="0" sz="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814444" y="3195828"/>
            <a:ext cx="3168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Third-party concentration risk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814444" y="3429000"/>
            <a:ext cx="3278211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A central health-payment provider outage disrupted claims, pharmacy, and payment services across the health sector.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93789" y="4265676"/>
            <a:ext cx="7804612" cy="219456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651527" y="4327398"/>
            <a:ext cx="7406837" cy="6858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600"/>
              <a:buFont typeface="Lato"/>
              <a:buNone/>
            </a:pPr>
            <a:r>
              <a:rPr b="1" i="0" lang="en" sz="6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Design pass: replaced the dense table with case cards for quicker reading during an 8-minute presentation.</a:t>
            </a:r>
            <a:endParaRPr b="0" i="0" sz="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7351972" y="4910328"/>
            <a:ext cx="1481367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76C"/>
              </a:buClr>
              <a:buSzPts val="400"/>
              <a:buFont typeface="Lato"/>
              <a:buNone/>
            </a:pPr>
            <a:r>
              <a:rPr b="0" i="0" lang="en" sz="400" u="none" cap="none" strike="noStrike">
                <a:solidFill>
                  <a:srgbClr val="7D776C"/>
                </a:solidFill>
                <a:latin typeface="Lato"/>
                <a:ea typeface="Lato"/>
                <a:cs typeface="Lato"/>
                <a:sym typeface="Lato"/>
              </a:rPr>
              <a:t>Rios, Mendoza &amp; Reyes | CSCE 701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029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425207" y="562356"/>
            <a:ext cx="3429091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2000"/>
              <a:buFont typeface="Montserrat"/>
              <a:buNone/>
            </a:pPr>
            <a:r>
              <a:rPr b="0" i="0" lang="en" sz="20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Major findings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466356" y="1200150"/>
            <a:ext cx="3669128" cy="1042416"/>
          </a:xfrm>
          <a:prstGeom prst="rect">
            <a:avLst/>
          </a:prstGeom>
          <a:solidFill>
            <a:srgbClr val="FFF6E9"/>
          </a:solidFill>
          <a:ln cap="flat" cmpd="sng" w="12700">
            <a:solidFill>
              <a:srgbClr val="FFF6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617236" y="1351026"/>
            <a:ext cx="370342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1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17236" y="1556766"/>
            <a:ext cx="370342" cy="54864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1152175" y="1351026"/>
            <a:ext cx="26609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Entry paths vary, but access failures repeat.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1152175" y="1735074"/>
            <a:ext cx="2708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Patching, credential protection, identity verification, and third-party governance recur across cases.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649848" y="1200150"/>
            <a:ext cx="3669128" cy="1042416"/>
          </a:xfrm>
          <a:prstGeom prst="rect">
            <a:avLst/>
          </a:prstGeom>
          <a:solidFill>
            <a:srgbClr val="FFF6E9"/>
          </a:solidFill>
          <a:ln cap="flat" cmpd="sng" w="12700">
            <a:solidFill>
              <a:srgbClr val="FFF6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4800728" y="1351026"/>
            <a:ext cx="370342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1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4800728" y="1556766"/>
            <a:ext cx="370342" cy="54864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5335666" y="1351026"/>
            <a:ext cx="26609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The largest effects are not always encryption alone.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5335666" y="1735074"/>
            <a:ext cx="2708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Containment decisions and uncertainty about attacker reach can stop operations.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66356" y="2743200"/>
            <a:ext cx="3669128" cy="1042416"/>
          </a:xfrm>
          <a:prstGeom prst="rect">
            <a:avLst/>
          </a:prstGeom>
          <a:solidFill>
            <a:srgbClr val="FFF6E9"/>
          </a:solidFill>
          <a:ln cap="flat" cmpd="sng" w="12700">
            <a:solidFill>
              <a:srgbClr val="FFF6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617236" y="2894076"/>
            <a:ext cx="370342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1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617236" y="3099816"/>
            <a:ext cx="370342" cy="54864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1152175" y="2894076"/>
            <a:ext cx="26609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Centralized providers multiply consequences.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1152175" y="3278124"/>
            <a:ext cx="2708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One compromised service can affect customers, partners, and entire sectors.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4649848" y="2743200"/>
            <a:ext cx="3669128" cy="1042416"/>
          </a:xfrm>
          <a:prstGeom prst="rect">
            <a:avLst/>
          </a:prstGeom>
          <a:solidFill>
            <a:srgbClr val="FFF6E9"/>
          </a:solidFill>
          <a:ln cap="flat" cmpd="sng" w="12700">
            <a:solidFill>
              <a:srgbClr val="FFF6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4800728" y="2894076"/>
            <a:ext cx="370342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1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4800728" y="3099816"/>
            <a:ext cx="370342" cy="54864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5335666" y="2894076"/>
            <a:ext cx="26609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Resilience requires layers.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5335666" y="3278124"/>
            <a:ext cx="2708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Prevention, detection, response, and recovery matter more than any single product.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7722314" y="4286250"/>
            <a:ext cx="493789" cy="8229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8257252" y="4293108"/>
            <a:ext cx="82298" cy="28803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7845761" y="4409694"/>
            <a:ext cx="329193" cy="8229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7351972" y="4910328"/>
            <a:ext cx="1481367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0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Rios, Mendoza &amp; Reyes | CSCE 701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9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/>
          <p:nvPr/>
        </p:nvSpPr>
        <p:spPr>
          <a:xfrm>
            <a:off x="0" y="0"/>
            <a:ext cx="9144015" cy="720090"/>
          </a:xfrm>
          <a:prstGeom prst="rect">
            <a:avLst/>
          </a:prstGeom>
          <a:solidFill>
            <a:srgbClr val="FFF6E9"/>
          </a:solidFill>
          <a:ln cap="flat" cmpd="sng" w="12700">
            <a:solidFill>
              <a:srgbClr val="FFF6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260611" y="370332"/>
            <a:ext cx="726967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900"/>
              <a:buFont typeface="Montserrat"/>
              <a:buNone/>
            </a:pPr>
            <a:r>
              <a:rPr b="0" i="0" lang="en" sz="19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Interpretation of the results</a:t>
            </a:r>
            <a:endParaRPr b="0"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425207" y="925830"/>
            <a:ext cx="56237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200"/>
              <a:buFont typeface="Lato"/>
              <a:buNone/>
            </a:pPr>
            <a:r>
              <a:rPr b="0" i="0" lang="en" sz="12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Across cases, attackers convert technical access into business pressure.</a:t>
            </a:r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500647" y="1495044"/>
            <a:ext cx="1632248" cy="960120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637820" y="1659730"/>
            <a:ext cx="1371637" cy="191925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Access weakness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624095" y="1933956"/>
            <a:ext cx="1357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phishing, stolen credentials, unpatched systems, weak identity checks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7" name="Google Shape;317;p23"/>
          <p:cNvCxnSpPr/>
          <p:nvPr/>
        </p:nvCxnSpPr>
        <p:spPr>
          <a:xfrm>
            <a:off x="2174044" y="1975104"/>
            <a:ext cx="329193" cy="0"/>
          </a:xfrm>
          <a:prstGeom prst="straightConnector1">
            <a:avLst/>
          </a:prstGeom>
          <a:noFill/>
          <a:ln cap="flat" cmpd="sng" w="16500">
            <a:solidFill>
              <a:srgbClr val="34302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23"/>
          <p:cNvSpPr/>
          <p:nvPr/>
        </p:nvSpPr>
        <p:spPr>
          <a:xfrm>
            <a:off x="2612968" y="1495044"/>
            <a:ext cx="1632248" cy="96012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2736415" y="1577333"/>
            <a:ext cx="1371637" cy="191925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Expansion + uncertainty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2736415" y="1933956"/>
            <a:ext cx="1357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privilege escalation, lateral movement, data theft, scope confusion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1" name="Google Shape;321;p23"/>
          <p:cNvCxnSpPr/>
          <p:nvPr/>
        </p:nvCxnSpPr>
        <p:spPr>
          <a:xfrm>
            <a:off x="4286364" y="1975104"/>
            <a:ext cx="329193" cy="0"/>
          </a:xfrm>
          <a:prstGeom prst="straightConnector1">
            <a:avLst/>
          </a:prstGeom>
          <a:noFill/>
          <a:ln cap="flat" cmpd="sng" w="16500">
            <a:solidFill>
              <a:srgbClr val="34302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2" name="Google Shape;322;p23"/>
          <p:cNvSpPr/>
          <p:nvPr/>
        </p:nvSpPr>
        <p:spPr>
          <a:xfrm>
            <a:off x="4725288" y="1495044"/>
            <a:ext cx="1632248" cy="96012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4848735" y="1577333"/>
            <a:ext cx="1371637" cy="191925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Operational leverage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4848735" y="1933956"/>
            <a:ext cx="1357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systems shut down, services paused, customers affected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5" name="Google Shape;325;p23"/>
          <p:cNvCxnSpPr/>
          <p:nvPr/>
        </p:nvCxnSpPr>
        <p:spPr>
          <a:xfrm>
            <a:off x="6398685" y="1975104"/>
            <a:ext cx="329193" cy="0"/>
          </a:xfrm>
          <a:prstGeom prst="straightConnector1">
            <a:avLst/>
          </a:prstGeom>
          <a:noFill/>
          <a:ln cap="flat" cmpd="sng" w="16500">
            <a:solidFill>
              <a:srgbClr val="34302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6" name="Google Shape;326;p23"/>
          <p:cNvSpPr/>
          <p:nvPr/>
        </p:nvSpPr>
        <p:spPr>
          <a:xfrm>
            <a:off x="6837608" y="1495044"/>
            <a:ext cx="1632248" cy="960120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6974800" y="1659739"/>
            <a:ext cx="1371637" cy="191925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Payment pressure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6961056" y="1933956"/>
            <a:ext cx="1357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leadership faces legal, operational, reputational, and timing decisions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720109" y="3127248"/>
            <a:ext cx="7612583" cy="630936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1069892" y="3353514"/>
            <a:ext cx="1131555" cy="13725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Key takeaway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2222067" y="3271218"/>
            <a:ext cx="5760829" cy="219375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Cybersecurity controls are also business-continuity controls: identity security, dependency mapping, asset visibility, and recovery speed determine how much leverage attackers gain.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7351972" y="4910328"/>
            <a:ext cx="1481367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76C"/>
              </a:buClr>
              <a:buSzPts val="400"/>
              <a:buFont typeface="Lato"/>
              <a:buNone/>
            </a:pPr>
            <a:r>
              <a:rPr b="0" i="0" lang="en" sz="400" u="none" cap="none" strike="noStrike">
                <a:solidFill>
                  <a:srgbClr val="7D776C"/>
                </a:solidFill>
                <a:latin typeface="Lato"/>
                <a:ea typeface="Lato"/>
                <a:cs typeface="Lato"/>
                <a:sym typeface="Lato"/>
              </a:rPr>
              <a:t>Rios, Mendoza &amp; Reyes | CSCE 701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9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"/>
          <p:cNvSpPr/>
          <p:nvPr/>
        </p:nvSpPr>
        <p:spPr>
          <a:xfrm>
            <a:off x="0" y="0"/>
            <a:ext cx="9144015" cy="72009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260611" y="370332"/>
            <a:ext cx="726967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900"/>
              <a:buFont typeface="Montserrat"/>
              <a:buNone/>
            </a:pPr>
            <a:r>
              <a:rPr b="0" i="0" lang="en" sz="19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What organizations can do</a:t>
            </a:r>
            <a:endParaRPr b="0"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425207" y="905256"/>
            <a:ext cx="6000910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100"/>
              <a:buFont typeface="Lato"/>
              <a:buNone/>
            </a:pPr>
            <a:r>
              <a:rPr b="0" i="0" lang="en" sz="11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The report argues for layered resilience: make entry harder, limit movement, detect earlier, and recover faster.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768116" y="1405890"/>
            <a:ext cx="7098219" cy="370332"/>
          </a:xfrm>
          <a:prstGeom prst="rect">
            <a:avLst/>
          </a:prstGeom>
          <a:solidFill>
            <a:srgbClr val="D6F8A1"/>
          </a:solidFill>
          <a:ln cap="flat" cmpd="sng" w="9525">
            <a:solidFill>
              <a:srgbClr val="FFF6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891564" y="1515618"/>
            <a:ext cx="1303055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Govern + identify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2379789" y="1501902"/>
            <a:ext cx="5246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asset inventory, owners, vendors, recovery priorities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960146" y="1920240"/>
            <a:ext cx="6714161" cy="370332"/>
          </a:xfrm>
          <a:prstGeom prst="rect">
            <a:avLst/>
          </a:prstGeom>
          <a:solidFill>
            <a:srgbClr val="343029"/>
          </a:solidFill>
          <a:ln cap="flat" cmpd="sng" w="9525">
            <a:solidFill>
              <a:srgbClr val="FFF6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1083593" y="2029968"/>
            <a:ext cx="1303055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Protect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2571819" y="2016252"/>
            <a:ext cx="4862452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phishing-resistant MFA, least privilege, patching, segmentation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1152175" y="2434590"/>
            <a:ext cx="6330103" cy="370332"/>
          </a:xfrm>
          <a:prstGeom prst="rect">
            <a:avLst/>
          </a:prstGeom>
          <a:solidFill>
            <a:srgbClr val="D6F8A1"/>
          </a:solidFill>
          <a:ln cap="flat" cmpd="sng" w="9525">
            <a:solidFill>
              <a:srgbClr val="FFF6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1275622" y="2544318"/>
            <a:ext cx="1303055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Detect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2763848" y="2530602"/>
            <a:ext cx="447839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logs, endpoint alerts, unusual admin activity, data transfer monitoring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1344204" y="2948940"/>
            <a:ext cx="5946045" cy="370332"/>
          </a:xfrm>
          <a:prstGeom prst="rect">
            <a:avLst/>
          </a:prstGeom>
          <a:solidFill>
            <a:srgbClr val="343029"/>
          </a:solidFill>
          <a:ln cap="flat" cmpd="sng" w="9525">
            <a:solidFill>
              <a:srgbClr val="FFF6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1467651" y="3058668"/>
            <a:ext cx="1303055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Respond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2955877" y="3044952"/>
            <a:ext cx="4094335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isolate affected systems, preserve evidence, coordinate legal/comms/operations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1536233" y="3463290"/>
            <a:ext cx="5561986" cy="370332"/>
          </a:xfrm>
          <a:prstGeom prst="rect">
            <a:avLst/>
          </a:prstGeom>
          <a:solidFill>
            <a:srgbClr val="D6F8A1"/>
          </a:solidFill>
          <a:ln cap="flat" cmpd="sng" w="9525">
            <a:solidFill>
              <a:srgbClr val="FFF6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1659680" y="3573018"/>
            <a:ext cx="1303055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Recover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3147906" y="3559302"/>
            <a:ext cx="3710277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offline/immutable backups, tested restoration, tabletop exercises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960146" y="4197096"/>
            <a:ext cx="6858183" cy="30861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1131600" y="4293108"/>
            <a:ext cx="6446692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Goal: reduce the pressure to pay by creating viable recovery options before an incident occurs.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7351972" y="4910328"/>
            <a:ext cx="1481367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76C"/>
              </a:buClr>
              <a:buSzPts val="400"/>
              <a:buFont typeface="Lato"/>
              <a:buNone/>
            </a:pPr>
            <a:r>
              <a:rPr b="0" i="0" lang="en" sz="400" u="none" cap="none" strike="noStrike">
                <a:solidFill>
                  <a:srgbClr val="7D776C"/>
                </a:solidFill>
                <a:latin typeface="Lato"/>
                <a:ea typeface="Lato"/>
                <a:cs typeface="Lato"/>
                <a:sym typeface="Lato"/>
              </a:rPr>
              <a:t>Rios, Mendoza &amp; Reyes | CSCE 701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9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"/>
          <p:cNvSpPr/>
          <p:nvPr/>
        </p:nvSpPr>
        <p:spPr>
          <a:xfrm>
            <a:off x="0" y="0"/>
            <a:ext cx="2846146" cy="514350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397775" y="1303020"/>
            <a:ext cx="185170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2000"/>
              <a:buFont typeface="Montserrat"/>
              <a:buNone/>
            </a:pPr>
            <a:r>
              <a:rPr b="0" i="0" lang="en" sz="20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411491" y="1865376"/>
            <a:ext cx="1748837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ato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evidence is useful for pattern identification, but not for statistical causation.</a:t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3305644" y="1062990"/>
            <a:ext cx="4766437" cy="63093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3463382" y="1179576"/>
            <a:ext cx="435494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Public accounts may omit sensitive investigative details.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3470241" y="1385316"/>
            <a:ext cx="4286364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Internal logs, negotiated details, and law-enforcement evidence are often unavailable.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3305644" y="2091690"/>
            <a:ext cx="4766437" cy="630936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3463382" y="2208276"/>
            <a:ext cx="435494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Financial figures are not perfectly comparable.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3470241" y="2414016"/>
            <a:ext cx="4286364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Organizations report direct costs, business disruption, loans, and response categories differently.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3" name="Google Shape;383;p25"/>
          <p:cNvSpPr/>
          <p:nvPr/>
        </p:nvSpPr>
        <p:spPr>
          <a:xfrm>
            <a:off x="3305644" y="3120390"/>
            <a:ext cx="4766437" cy="630936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5"/>
          <p:cNvSpPr/>
          <p:nvPr/>
        </p:nvSpPr>
        <p:spPr>
          <a:xfrm>
            <a:off x="3463382" y="3236976"/>
            <a:ext cx="435494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Four cases cannot represent all ransomware incidents.</a:t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3470241" y="3442716"/>
            <a:ext cx="4286364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They are information-rich examples designed to show recurring patterns, not prevalence.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7351972" y="4910328"/>
            <a:ext cx="1481367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76C"/>
              </a:buClr>
              <a:buSzPts val="400"/>
              <a:buFont typeface="Lato"/>
              <a:buNone/>
            </a:pPr>
            <a:r>
              <a:rPr b="0" i="0" lang="en" sz="400" u="none" cap="none" strike="noStrike">
                <a:solidFill>
                  <a:srgbClr val="7D776C"/>
                </a:solidFill>
                <a:latin typeface="Lato"/>
                <a:ea typeface="Lato"/>
                <a:cs typeface="Lato"/>
                <a:sym typeface="Lato"/>
              </a:rPr>
              <a:t>Rios, Mendoza &amp; Reyes | CSCE 701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9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6"/>
          <p:cNvSpPr/>
          <p:nvPr/>
        </p:nvSpPr>
        <p:spPr>
          <a:xfrm>
            <a:off x="0" y="0"/>
            <a:ext cx="9144015" cy="72009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430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260611" y="370332"/>
            <a:ext cx="726967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900"/>
              <a:buFont typeface="Montserrat"/>
              <a:buNone/>
            </a:pPr>
            <a:r>
              <a:rPr b="0" i="0" lang="en" sz="19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Future work &amp; conclusion</a:t>
            </a:r>
            <a:endParaRPr b="0" i="0" sz="1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507506" y="1110996"/>
            <a:ext cx="3669128" cy="3188970"/>
          </a:xfrm>
          <a:prstGeom prst="rect">
            <a:avLst/>
          </a:prstGeom>
          <a:solidFill>
            <a:srgbClr val="34302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706387" y="1357876"/>
            <a:ext cx="2811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300"/>
              <a:buFont typeface="Montserrat"/>
              <a:buNone/>
            </a:pPr>
            <a:r>
              <a:rPr b="0" i="0" lang="en" sz="13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Future research should examine:</a:t>
            </a:r>
            <a:endParaRPr b="0" i="0" sz="13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754400" y="1892834"/>
            <a:ext cx="89102" cy="89100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946429" y="1844828"/>
            <a:ext cx="2709072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standardized incident datasets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754400" y="2222018"/>
            <a:ext cx="89102" cy="89100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946429" y="2174012"/>
            <a:ext cx="2709072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which controls change outcomes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" name="Google Shape;405;p26"/>
          <p:cNvSpPr/>
          <p:nvPr/>
        </p:nvSpPr>
        <p:spPr>
          <a:xfrm>
            <a:off x="754400" y="2551202"/>
            <a:ext cx="89102" cy="89100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946429" y="2503196"/>
            <a:ext cx="2709072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real recovery time + backup usability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754400" y="2880386"/>
            <a:ext cx="89102" cy="89100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946429" y="2832380"/>
            <a:ext cx="2709072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AI-assisted impersonation and social engineering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754400" y="3209570"/>
            <a:ext cx="89102" cy="89100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946429" y="3161564"/>
            <a:ext cx="2709072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payment outcomes, sanctions exposure, and attacker adaptation</a:t>
            </a:r>
            <a:endParaRPr b="0"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4629273" y="1110996"/>
            <a:ext cx="3950313" cy="3188970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4889884" y="1357884"/>
            <a:ext cx="1508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1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Bottom line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" name="Google Shape;413;p26"/>
          <p:cNvSpPr/>
          <p:nvPr/>
        </p:nvSpPr>
        <p:spPr>
          <a:xfrm>
            <a:off x="4896743" y="1659636"/>
            <a:ext cx="3154764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343029"/>
                </a:solidFill>
                <a:latin typeface="Montserrat"/>
                <a:ea typeface="Montserrat"/>
                <a:cs typeface="Montserrat"/>
                <a:sym typeface="Montserrat"/>
              </a:rPr>
              <a:t>The strongest response is not simply refusing to pay after an attack…</a:t>
            </a:r>
            <a:endParaRPr b="0"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4903593" y="2482592"/>
            <a:ext cx="3254937" cy="965025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100"/>
              <a:buFont typeface="Lato"/>
              <a:buNone/>
            </a:pPr>
            <a:r>
              <a:rPr b="0" i="0" lang="en" sz="11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It is building enough resilience before an attack that the organization does not have to depend on the criminals who caused the disruption.</a:t>
            </a:r>
            <a:endParaRPr b="0" i="0" sz="1100" u="none" cap="none" strike="noStrike">
              <a:solidFill>
                <a:srgbClr val="34302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34302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Layered controls make an attack more difficult and give the organization better options during recovery</a:t>
            </a:r>
            <a:r>
              <a:rPr b="0" i="0" lang="en" sz="9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900" u="none" cap="none" strike="noStrike">
              <a:solidFill>
                <a:srgbClr val="34302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4302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100"/>
              <a:buFont typeface="Lato"/>
              <a:buNone/>
            </a:pPr>
            <a:r>
              <a:t/>
            </a:r>
            <a:endParaRPr b="0" i="0" sz="1100" u="none" cap="none" strike="noStrike">
              <a:solidFill>
                <a:srgbClr val="34302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5" name="Google Shape;415;p26"/>
          <p:cNvSpPr/>
          <p:nvPr/>
        </p:nvSpPr>
        <p:spPr>
          <a:xfrm>
            <a:off x="7351972" y="4910328"/>
            <a:ext cx="1481367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76C"/>
              </a:buClr>
              <a:buSzPts val="400"/>
              <a:buFont typeface="Lato"/>
              <a:buNone/>
            </a:pPr>
            <a:r>
              <a:rPr b="0" i="0" lang="en" sz="400" u="none" cap="none" strike="noStrike">
                <a:solidFill>
                  <a:srgbClr val="7D776C"/>
                </a:solidFill>
                <a:latin typeface="Lato"/>
                <a:ea typeface="Lato"/>
                <a:cs typeface="Lato"/>
                <a:sym typeface="Lato"/>
              </a:rPr>
              <a:t>Rios, Mendoza &amp; Reyes | CSCE 701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029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7"/>
          <p:cNvSpPr/>
          <p:nvPr/>
        </p:nvSpPr>
        <p:spPr>
          <a:xfrm>
            <a:off x="260611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315476" y="294894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315476" y="185166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370342" y="240030"/>
            <a:ext cx="48007" cy="48006"/>
          </a:xfrm>
          <a:prstGeom prst="ellipse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438924" y="192024"/>
            <a:ext cx="154309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400"/>
              <a:buFont typeface="Lato"/>
              <a:buNone/>
            </a:pPr>
            <a:r>
              <a:rPr b="1" i="0" lang="en" sz="400" u="none" cap="none" strike="noStrike">
                <a:solidFill>
                  <a:srgbClr val="D6F8A1"/>
                </a:solidFill>
                <a:latin typeface="Lato"/>
                <a:ea typeface="Lato"/>
                <a:cs typeface="Lato"/>
                <a:sym typeface="Lato"/>
              </a:rPr>
              <a:t>CSCE 701 FINAL PROJECT</a:t>
            </a:r>
            <a:endParaRPr b="0" i="0" sz="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425207" y="534924"/>
            <a:ext cx="2880437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2000"/>
              <a:buFont typeface="Montserrat"/>
              <a:buNone/>
            </a:pPr>
            <a:r>
              <a:rPr b="0" i="0" lang="en" sz="2000" u="none" cap="none" strike="noStrike">
                <a:solidFill>
                  <a:srgbClr val="D6F8A1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445782" y="1220724"/>
            <a:ext cx="4080619" cy="3326130"/>
          </a:xfrm>
          <a:prstGeom prst="rect">
            <a:avLst/>
          </a:prstGeom>
          <a:solidFill>
            <a:srgbClr val="FFF6E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4629273" y="1220724"/>
            <a:ext cx="4080619" cy="3326130"/>
          </a:xfrm>
          <a:prstGeom prst="rect">
            <a:avLst/>
          </a:prstGeom>
          <a:solidFill>
            <a:srgbClr val="FFF6E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651527" y="1385316"/>
            <a:ext cx="3600546" cy="282549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Cybersecurity and Infrastructure Security Agency. (2023). #StopRansomware Guide.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Cybersecurity and Infrastructure Security Agency. (2021). BlackMatter Ransomware.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Europol. (2017). WannaCry Ransomware.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Federal Bureau of Investigation. Ransomware.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Federal Bureau of Investigation. Spoofing and Phishing.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MGM Resorts International. (2023). Current Report, Form 8-K.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Microsoft Security Response Center. (2017). Customer Guidance for WannaCrypt Attacks.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4835019" y="1385316"/>
            <a:ext cx="3600546" cy="2825496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O’Kane, P., Sezer, S., &amp; Carlin, D. (2018). Evolution of Ransomware. IET Networks.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Oz, H., et al. (2022). A Survey on Ransomware. ACM Computing Surveys.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Paquet-Clouston, M., Haslhofer, B., &amp; Dupont, B. (2019). Ransomware Payments in the Bitcoin Ecosystem.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Souppaya, M., et al. (2026). Ransomware Risk Management. NIST IR 8374 Rev. 1.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UnitedHealth Group Incorporated. (2025). Annual Report, Form 10-K.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U.S. Department of Justice. (2021). Seizure of DarkSide cryptocurrency payment.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700"/>
              <a:buFont typeface="Lato"/>
              <a:buNone/>
            </a:pPr>
            <a:r>
              <a:rPr b="0" i="0" lang="en" sz="700" u="none" cap="none" strike="noStrike">
                <a:solidFill>
                  <a:srgbClr val="343029"/>
                </a:solidFill>
                <a:latin typeface="Lato"/>
                <a:ea typeface="Lato"/>
                <a:cs typeface="Lato"/>
                <a:sym typeface="Lato"/>
              </a:rPr>
              <a:t>— U.S. Department of the Treasury. (2021). Treasury actions to counter ransomware.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8092607" y="4679220"/>
            <a:ext cx="493888" cy="82350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8627545" y="4686078"/>
            <a:ext cx="82352" cy="288000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8216054" y="4802664"/>
            <a:ext cx="329184" cy="82350"/>
          </a:xfrm>
          <a:prstGeom prst="rect">
            <a:avLst/>
          </a:prstGeom>
          <a:solidFill>
            <a:srgbClr val="D6F8A1"/>
          </a:solidFill>
          <a:ln cap="flat" cmpd="sng" w="12700">
            <a:solidFill>
              <a:srgbClr val="D6F8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